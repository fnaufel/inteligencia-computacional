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wmf" ContentType="image/x-wmf"/>
  <Override PartName="/ppt/media/image28.wmf" ContentType="image/x-wmf"/>
  <Override PartName="/ppt/media/image27.wmf" ContentType="image/x-wmf"/>
  <Override PartName="/ppt/media/image26.wmf" ContentType="image/x-wmf"/>
  <Override PartName="/ppt/media/image25.wmf" ContentType="image/x-wmf"/>
  <Override PartName="/ppt/media/image24.wmf" ContentType="image/x-wmf"/>
  <Override PartName="/ppt/media/image23.wmf" ContentType="image/x-wmf"/>
  <Override PartName="/ppt/media/image22.wmf" ContentType="image/x-wmf"/>
  <Override PartName="/ppt/media/image21.wmf" ContentType="image/x-wmf"/>
  <Override PartName="/ppt/media/image19.wmf" ContentType="image/x-wmf"/>
  <Override PartName="/ppt/media/image14.wmf" ContentType="image/x-wmf"/>
  <Override PartName="/ppt/media/image53.png" ContentType="image/png"/>
  <Override PartName="/ppt/media/image5.wmf" ContentType="image/x-wmf"/>
  <Override PartName="/ppt/media/image15.wmf" ContentType="image/x-wmf"/>
  <Override PartName="/ppt/media/image54.png" ContentType="image/png"/>
  <Override PartName="/ppt/media/image6.wmf" ContentType="image/x-wmf"/>
  <Override PartName="/ppt/media/image1.wmf" ContentType="image/x-wmf"/>
  <Override PartName="/ppt/media/image10.wmf" ContentType="image/x-wmf"/>
  <Override PartName="/ppt/media/image47.wmf" ContentType="image/x-wmf"/>
  <Override PartName="/ppt/media/image16.wmf" ContentType="image/x-wmf"/>
  <Override PartName="/ppt/media/image7.wmf" ContentType="image/x-wmf"/>
  <Override PartName="/ppt/media/image2.wmf" ContentType="image/x-wmf"/>
  <Override PartName="/ppt/media/image11.wmf" ContentType="image/x-wmf"/>
  <Override PartName="/ppt/media/image48.wmf" ContentType="image/x-wmf"/>
  <Override PartName="/ppt/media/image17.wmf" ContentType="image/x-wmf"/>
  <Override PartName="/ppt/media/image50.wmf" ContentType="image/x-wmf"/>
  <Override PartName="/ppt/media/image34.svg" ContentType="image/svg"/>
  <Override PartName="/ppt/media/image43.wmf" ContentType="image/x-wmf"/>
  <Override PartName="/ppt/media/image37.png" ContentType="image/png"/>
  <Override PartName="/ppt/media/image40.wmf" ContentType="image/x-wmf"/>
  <Override PartName="/ppt/media/image39.png" ContentType="image/png"/>
  <Override PartName="/ppt/media/image42.wmf" ContentType="image/x-wmf"/>
  <Override PartName="/ppt/media/image41.wmf" ContentType="image/x-wmf"/>
  <Override PartName="/ppt/media/image44.wmf" ContentType="image/x-wmf"/>
  <Override PartName="/ppt/media/image45.wmf" ContentType="image/x-wmf"/>
  <Override PartName="/ppt/media/image46.wmf" ContentType="image/x-wmf"/>
  <Override PartName="/ppt/media/image38.svg" ContentType="image/svg"/>
  <Override PartName="/ppt/media/image51.wmf" ContentType="image/x-wmf"/>
  <Override PartName="/ppt/media/image12.wmf" ContentType="image/x-wmf"/>
  <Override PartName="/ppt/media/image49.wmf" ContentType="image/x-wmf"/>
  <Override PartName="/ppt/media/image33.png" ContentType="image/png"/>
  <Override PartName="/ppt/media/image32.wmf" ContentType="image/x-wmf"/>
  <Override PartName="/ppt/media/image31.wmf" ContentType="image/x-wmf"/>
  <Override PartName="/ppt/media/image30.wmf" ContentType="image/x-wmf"/>
  <Override PartName="/ppt/media/image13.wmf" ContentType="image/x-wmf"/>
  <Override PartName="/ppt/media/image52.png" ContentType="image/png"/>
  <Override PartName="/ppt/media/image3.wmf" ContentType="image/x-wmf"/>
  <Override PartName="/ppt/media/image35.wmf" ContentType="image/x-wmf"/>
  <Override PartName="/ppt/media/image4.wmf" ContentType="image/x-wmf"/>
  <Override PartName="/ppt/media/image36.wmf" ContentType="image/x-wmf"/>
  <Override PartName="/ppt/media/image9.wmf" ContentType="image/x-wmf"/>
  <Override PartName="/ppt/media/image18.wmf" ContentType="image/x-wmf"/>
  <Override PartName="/ppt/media/image20.wmf" ContentType="image/x-wmf"/>
  <Override PartName="/ppt/media/image8.wmf" ContentType="image/x-wmf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46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49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4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40.xml" ContentType="application/vnd.openxmlformats-officedocument.presentationml.slide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35.xml.rels" ContentType="application/vnd.openxmlformats-package.relationships+xml"/>
  <Override PartName="/ppt/slides/_rels/slide36.xml.rels" ContentType="application/vnd.openxmlformats-package.relationships+xml"/>
  <Override PartName="/ppt/slides/_rels/slide37.xml.rels" ContentType="application/vnd.openxmlformats-package.relationships+xml"/>
  <Override PartName="/ppt/slides/_rels/slide56.xml.rels" ContentType="application/vnd.openxmlformats-package.relationships+xml"/>
  <Override PartName="/ppt/slides/_rels/slide2.xml.rels" ContentType="application/vnd.openxmlformats-package.relationships+xml"/>
  <Override PartName="/ppt/slides/_rels/slide44.xml.rels" ContentType="application/vnd.openxmlformats-package.relationships+xml"/>
  <Override PartName="/ppt/slides/_rels/slide55.xml.rels" ContentType="application/vnd.openxmlformats-package.relationships+xml"/>
  <Override PartName="/ppt/slides/_rels/slide1.xml.rels" ContentType="application/vnd.openxmlformats-package.relationships+xml"/>
  <Override PartName="/ppt/slides/_rels/slide43.xml.rels" ContentType="application/vnd.openxmlformats-package.relationships+xml"/>
  <Override PartName="/ppt/slides/_rels/slide54.xml.rels" ContentType="application/vnd.openxmlformats-package.relationships+xml"/>
  <Override PartName="/ppt/slides/_rels/slide42.xml.rels" ContentType="application/vnd.openxmlformats-package.relationships+xml"/>
  <Override PartName="/ppt/slides/_rels/slide53.xml.rels" ContentType="application/vnd.openxmlformats-package.relationships+xml"/>
  <Override PartName="/ppt/slides/_rels/slide39.xml.rels" ContentType="application/vnd.openxmlformats-package.relationships+xml"/>
  <Override PartName="/ppt/slides/_rels/slide41.xml.rels" ContentType="application/vnd.openxmlformats-package.relationships+xml"/>
  <Override PartName="/ppt/slides/_rels/slide52.xml.rels" ContentType="application/vnd.openxmlformats-package.relationships+xml"/>
  <Override PartName="/ppt/slides/_rels/slide46.xml.rels" ContentType="application/vnd.openxmlformats-package.relationships+xml"/>
  <Override PartName="/ppt/slides/_rels/slide47.xml.rels" ContentType="application/vnd.openxmlformats-package.relationships+xml"/>
  <Override PartName="/ppt/slides/_rels/slide10.xml.rels" ContentType="application/vnd.openxmlformats-package.relationships+xml"/>
  <Override PartName="/ppt/slides/_rels/slide45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4.xml.rels" ContentType="application/vnd.openxmlformats-package.relationships+xml"/>
  <Override PartName="/ppt/slides/_rels/slide12.xml.rels" ContentType="application/vnd.openxmlformats-package.relationships+xml"/>
  <Override PartName="/ppt/slides/_rels/slide49.xml.rels" ContentType="application/vnd.openxmlformats-package.relationships+xml"/>
  <Override PartName="/ppt/slides/_rels/slide51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28.xml.rels" ContentType="application/vnd.openxmlformats-package.relationships+xml"/>
  <Override PartName="/ppt/slides/_rels/slide17.xml.rels" ContentType="application/vnd.openxmlformats-package.relationships+xml"/>
  <Override PartName="/ppt/slides/_rels/slide29.xml.rels" ContentType="application/vnd.openxmlformats-package.relationships+xml"/>
  <Override PartName="/ppt/slides/_rels/slide11.xml.rels" ContentType="application/vnd.openxmlformats-package.relationships+xml"/>
  <Override PartName="/ppt/slides/_rels/slide48.xml.rels" ContentType="application/vnd.openxmlformats-package.relationships+xml"/>
  <Override PartName="/ppt/slides/_rels/slide50.xml.rels" ContentType="application/vnd.openxmlformats-package.relationships+xml"/>
  <Override PartName="/ppt/slides/_rels/slide13.xml.rels" ContentType="application/vnd.openxmlformats-package.relationships+xml"/>
  <Override PartName="/ppt/slides/_rels/slide40.xml.rels" ContentType="application/vnd.openxmlformats-package.relationships+xml"/>
  <Override PartName="/ppt/slides/_rels/slide38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57.xml.rels" ContentType="application/vnd.openxmlformats-package.relationships+xml"/>
  <Override PartName="/ppt/slides/_rels/slide4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slide38.xml" ContentType="application/vnd.openxmlformats-officedocument.presentationml.slide+xml"/>
  <Override PartName="/ppt/slides/slide52.xml" ContentType="application/vnd.openxmlformats-officedocument.presentationml.slide+xml"/>
  <Override PartName="/ppt/slides/slide41.xml" ContentType="application/vnd.openxmlformats-officedocument.presentationml.slide+xml"/>
  <Override PartName="/ppt/slides/slide39.xml" ContentType="application/vnd.openxmlformats-officedocument.presentationml.slide+xml"/>
  <Override PartName="/ppt/slides/slide53.xml" ContentType="application/vnd.openxmlformats-officedocument.presentationml.slide+xml"/>
  <Override PartName="/ppt/slides/slide42.xml" ContentType="application/vnd.openxmlformats-officedocument.presentationml.slide+xml"/>
  <Override PartName="/ppt/slides/slide54.xml" ContentType="application/vnd.openxmlformats-officedocument.presentationml.slide+xml"/>
  <Override PartName="/ppt/slides/slide43.xml" ContentType="application/vnd.openxmlformats-officedocument.presentationml.slide+xml"/>
  <Override PartName="/ppt/slides/slide55.xml" ContentType="application/vnd.openxmlformats-officedocument.presentationml.slide+xml"/>
  <Override PartName="/ppt/slides/slide44.xml" ContentType="application/vnd.openxmlformats-officedocument.presentationml.slide+xml"/>
  <Override PartName="/ppt/slides/slide56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notesSlides/_rels/notesSlide33.xml.rels" ContentType="application/vnd.openxmlformats-package.relationships+xml"/>
  <Override PartName="/ppt/notesSlides/notesSlide3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291" r:id="rId49"/>
    <p:sldId id="292" r:id="rId50"/>
    <p:sldId id="293" r:id="rId51"/>
    <p:sldId id="294" r:id="rId52"/>
    <p:sldId id="295" r:id="rId53"/>
    <p:sldId id="296" r:id="rId54"/>
    <p:sldId id="297" r:id="rId55"/>
    <p:sldId id="298" r:id="rId56"/>
    <p:sldId id="299" r:id="rId57"/>
    <p:sldId id="300" r:id="rId58"/>
    <p:sldId id="301" r:id="rId59"/>
    <p:sldId id="302" r:id="rId60"/>
    <p:sldId id="303" r:id="rId61"/>
    <p:sldId id="304" r:id="rId62"/>
    <p:sldId id="305" r:id="rId63"/>
    <p:sldId id="306" r:id="rId64"/>
    <p:sldId id="307" r:id="rId65"/>
    <p:sldId id="308" r:id="rId66"/>
    <p:sldId id="309" r:id="rId67"/>
    <p:sldId id="310" r:id="rId68"/>
    <p:sldId id="311" r:id="rId69"/>
    <p:sldId id="312" r:id="rId7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slide" Target="slides/slide38.xml"/><Relationship Id="rId52" Type="http://schemas.openxmlformats.org/officeDocument/2006/relationships/slide" Target="slides/slide39.xml"/><Relationship Id="rId53" Type="http://schemas.openxmlformats.org/officeDocument/2006/relationships/slide" Target="slides/slide40.xml"/><Relationship Id="rId54" Type="http://schemas.openxmlformats.org/officeDocument/2006/relationships/slide" Target="slides/slide41.xml"/><Relationship Id="rId55" Type="http://schemas.openxmlformats.org/officeDocument/2006/relationships/slide" Target="slides/slide42.xml"/><Relationship Id="rId56" Type="http://schemas.openxmlformats.org/officeDocument/2006/relationships/slide" Target="slides/slide43.xml"/><Relationship Id="rId57" Type="http://schemas.openxmlformats.org/officeDocument/2006/relationships/slide" Target="slides/slide44.xml"/><Relationship Id="rId58" Type="http://schemas.openxmlformats.org/officeDocument/2006/relationships/slide" Target="slides/slide45.xml"/><Relationship Id="rId59" Type="http://schemas.openxmlformats.org/officeDocument/2006/relationships/slide" Target="slides/slide46.xml"/><Relationship Id="rId60" Type="http://schemas.openxmlformats.org/officeDocument/2006/relationships/slide" Target="slides/slide47.xml"/><Relationship Id="rId61" Type="http://schemas.openxmlformats.org/officeDocument/2006/relationships/slide" Target="slides/slide48.xml"/><Relationship Id="rId62" Type="http://schemas.openxmlformats.org/officeDocument/2006/relationships/slide" Target="slides/slide49.xml"/><Relationship Id="rId63" Type="http://schemas.openxmlformats.org/officeDocument/2006/relationships/slide" Target="slides/slide50.xml"/><Relationship Id="rId64" Type="http://schemas.openxmlformats.org/officeDocument/2006/relationships/slide" Target="slides/slide51.xml"/><Relationship Id="rId65" Type="http://schemas.openxmlformats.org/officeDocument/2006/relationships/slide" Target="slides/slide52.xml"/><Relationship Id="rId66" Type="http://schemas.openxmlformats.org/officeDocument/2006/relationships/slide" Target="slides/slide53.xml"/><Relationship Id="rId67" Type="http://schemas.openxmlformats.org/officeDocument/2006/relationships/slide" Target="slides/slide54.xml"/><Relationship Id="rId68" Type="http://schemas.openxmlformats.org/officeDocument/2006/relationships/slide" Target="slides/slide55.xml"/><Relationship Id="rId69" Type="http://schemas.openxmlformats.org/officeDocument/2006/relationships/slide" Target="slides/slide56.xml"/><Relationship Id="rId70" Type="http://schemas.openxmlformats.org/officeDocument/2006/relationships/slide" Target="slides/slide57.xml"/><Relationship Id="rId7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A34B1B2-0113-4D5D-9DE1-69A16189798B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79E57C6-9179-47C2-936F-C8DA8D93832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6EDF86-1427-4030-9DCA-CC4622183E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A88C0A-AB5D-4B41-87BC-CE9C0B241E9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0A41FE3-06BB-4E91-BE02-DE29912FA65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25C5E9F-40FC-4971-8968-9BAE873089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44431E2-CAD7-439D-9A17-9403103DB7B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6741CC73-B077-4F88-AB77-220003C5DE0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7A1D5A99-3B95-40AF-886F-C5CC8A3A3B5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57537317-1DB4-424E-A543-37B416DBC70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B602796C-E588-4770-9B70-C1D48D9DA1C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149797A0-4217-4375-8E31-75C36F1B653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305788FE-5783-4721-B64C-C437E7AE7C0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EBCF5F-2B08-4059-87D3-83BDD0DCBAD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1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261C6B-2848-41B2-831B-02863B04EEF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34F2AC-A6B1-4E78-90CE-B94BC63A7AB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08A82A-8DB7-4204-9FE0-7C290DD48EF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99333D-CDFC-461E-A471-B36F6787A89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1345F8-FF53-417B-BFF9-E936AF2EFA1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5602AD-F961-4585-AB02-A888C149C38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8886FA-CD93-499F-8C36-B447647C7CE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6BECCC-F0FA-44D5-8830-5F0E77BA687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B991A4-C74F-4DE2-8D49-78E436EDF12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CBD1B8-D9A9-4105-9E48-97FF010F776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image" Target="../media/image3.wmf"/><Relationship Id="rId4" Type="http://schemas.openxmlformats.org/officeDocument/2006/relationships/image" Target="../media/image4.wmf"/><Relationship Id="rId5" Type="http://schemas.openxmlformats.org/officeDocument/2006/relationships/image" Target="../media/image5.wmf"/><Relationship Id="rId6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wmf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wmf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wmf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wmf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wmf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wmf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wmf"/><Relationship Id="rId2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wmf"/><Relationship Id="rId2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wmf"/><Relationship Id="rId2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wmf"/><Relationship Id="rId2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wmf"/><Relationship Id="rId2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7.wmf"/><Relationship Id="rId2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8.wmf"/><Relationship Id="rId2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9.wmf"/><Relationship Id="rId2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0.wmf"/><Relationship Id="rId2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1.wmf"/><Relationship Id="rId2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2.wmf"/><Relationship Id="rId2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3.wmf"/><Relationship Id="rId2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4.wmf"/><Relationship Id="rId2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5.wmf"/><Relationship Id="rId2" Type="http://schemas.openxmlformats.org/officeDocument/2006/relationships/slideLayout" Target="../slideLayouts/slideLayout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image" Target="../media/image26.wmf"/><Relationship Id="rId3" Type="http://schemas.openxmlformats.org/officeDocument/2006/relationships/slideLayout" Target="../slideLayouts/slideLayout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7.wmf"/><Relationship Id="rId2" Type="http://schemas.openxmlformats.org/officeDocument/2006/relationships/slideLayout" Target="../slideLayouts/slideLayout4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8.wmf"/><Relationship Id="rId2" Type="http://schemas.openxmlformats.org/officeDocument/2006/relationships/image" Target="../media/image1.wmf"/><Relationship Id="rId3" Type="http://schemas.openxmlformats.org/officeDocument/2006/relationships/image" Target="../media/image2.wmf"/><Relationship Id="rId4" Type="http://schemas.openxmlformats.org/officeDocument/2006/relationships/image" Target="../media/image3.wmf"/><Relationship Id="rId5" Type="http://schemas.openxmlformats.org/officeDocument/2006/relationships/image" Target="../media/image4.wmf"/><Relationship Id="rId6" Type="http://schemas.openxmlformats.org/officeDocument/2006/relationships/slideLayout" Target="../slideLayouts/slideLayout4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8.wmf"/><Relationship Id="rId2" Type="http://schemas.openxmlformats.org/officeDocument/2006/relationships/image" Target="../media/image29.wmf"/><Relationship Id="rId3" Type="http://schemas.openxmlformats.org/officeDocument/2006/relationships/slideLayout" Target="../slideLayouts/slideLayout4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0.wmf"/><Relationship Id="rId2" Type="http://schemas.openxmlformats.org/officeDocument/2006/relationships/image" Target="../media/image1.wmf"/><Relationship Id="rId3" Type="http://schemas.openxmlformats.org/officeDocument/2006/relationships/image" Target="../media/image4.wmf"/><Relationship Id="rId4" Type="http://schemas.openxmlformats.org/officeDocument/2006/relationships/image" Target="../media/image31.wmf"/><Relationship Id="rId5" Type="http://schemas.openxmlformats.org/officeDocument/2006/relationships/slideLayout" Target="../slideLayouts/slideLayout4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4.wmf"/><Relationship Id="rId3" Type="http://schemas.openxmlformats.org/officeDocument/2006/relationships/image" Target="../media/image32.wmf"/><Relationship Id="rId4" Type="http://schemas.openxmlformats.org/officeDocument/2006/relationships/image" Target="../media/image29.wmf"/><Relationship Id="rId5" Type="http://schemas.openxmlformats.org/officeDocument/2006/relationships/slideLayout" Target="../slideLayouts/slideLayout4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svg"/><Relationship Id="rId3" Type="http://schemas.openxmlformats.org/officeDocument/2006/relationships/image" Target="../media/image35.wmf"/><Relationship Id="rId4" Type="http://schemas.openxmlformats.org/officeDocument/2006/relationships/image" Target="../media/image36.wmf"/><Relationship Id="rId5" Type="http://schemas.openxmlformats.org/officeDocument/2006/relationships/image" Target="../media/image33.png"/><Relationship Id="rId6" Type="http://schemas.openxmlformats.org/officeDocument/2006/relationships/image" Target="../media/image34.sv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30.wmf"/><Relationship Id="rId2" Type="http://schemas.openxmlformats.org/officeDocument/2006/relationships/image" Target="../media/image1.wmf"/><Relationship Id="rId3" Type="http://schemas.openxmlformats.org/officeDocument/2006/relationships/image" Target="../media/image29.wmf"/><Relationship Id="rId4" Type="http://schemas.openxmlformats.org/officeDocument/2006/relationships/slideLayout" Target="../slideLayouts/slideLayout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svg"/><Relationship Id="rId3" Type="http://schemas.openxmlformats.org/officeDocument/2006/relationships/slideLayout" Target="../slideLayouts/slideLayout4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svg"/><Relationship Id="rId3" Type="http://schemas.openxmlformats.org/officeDocument/2006/relationships/slideLayout" Target="../slideLayouts/slideLayout4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svg"/><Relationship Id="rId3" Type="http://schemas.openxmlformats.org/officeDocument/2006/relationships/slideLayout" Target="../slideLayouts/slideLayout4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svg"/><Relationship Id="rId3" Type="http://schemas.openxmlformats.org/officeDocument/2006/relationships/slideLayout" Target="../slideLayouts/slideLayout4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4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4.wmf"/><Relationship Id="rId3" Type="http://schemas.openxmlformats.org/officeDocument/2006/relationships/image" Target="../media/image40.wmf"/><Relationship Id="rId4" Type="http://schemas.openxmlformats.org/officeDocument/2006/relationships/image" Target="../media/image41.wmf"/><Relationship Id="rId5" Type="http://schemas.openxmlformats.org/officeDocument/2006/relationships/image" Target="../media/image42.wmf"/><Relationship Id="rId6" Type="http://schemas.openxmlformats.org/officeDocument/2006/relationships/image" Target="../media/image29.wmf"/><Relationship Id="rId7" Type="http://schemas.openxmlformats.org/officeDocument/2006/relationships/slideLayout" Target="../slideLayouts/slideLayout4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40.wmf"/><Relationship Id="rId2" Type="http://schemas.openxmlformats.org/officeDocument/2006/relationships/image" Target="../media/image41.wmf"/><Relationship Id="rId3" Type="http://schemas.openxmlformats.org/officeDocument/2006/relationships/image" Target="../media/image42.wmf"/><Relationship Id="rId4" Type="http://schemas.openxmlformats.org/officeDocument/2006/relationships/image" Target="../media/image43.wmf"/><Relationship Id="rId5" Type="http://schemas.openxmlformats.org/officeDocument/2006/relationships/image" Target="../media/image44.wmf"/><Relationship Id="rId6" Type="http://schemas.openxmlformats.org/officeDocument/2006/relationships/image" Target="../media/image45.wmf"/><Relationship Id="rId7" Type="http://schemas.openxmlformats.org/officeDocument/2006/relationships/slideLayout" Target="../slideLayouts/slideLayout4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43.wmf"/><Relationship Id="rId2" Type="http://schemas.openxmlformats.org/officeDocument/2006/relationships/image" Target="../media/image44.wmf"/><Relationship Id="rId3" Type="http://schemas.openxmlformats.org/officeDocument/2006/relationships/image" Target="../media/image45.wmf"/><Relationship Id="rId4" Type="http://schemas.openxmlformats.org/officeDocument/2006/relationships/image" Target="../media/image46.wmf"/><Relationship Id="rId5" Type="http://schemas.openxmlformats.org/officeDocument/2006/relationships/image" Target="../media/image47.wmf"/><Relationship Id="rId6" Type="http://schemas.openxmlformats.org/officeDocument/2006/relationships/image" Target="../media/image48.wmf"/><Relationship Id="rId7" Type="http://schemas.openxmlformats.org/officeDocument/2006/relationships/slideLayout" Target="../slideLayouts/slideLayout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49.wmf"/><Relationship Id="rId2" Type="http://schemas.openxmlformats.org/officeDocument/2006/relationships/image" Target="../media/image50.wmf"/><Relationship Id="rId3" Type="http://schemas.openxmlformats.org/officeDocument/2006/relationships/slideLayout" Target="../slideLayouts/slideLayout4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51.wmf"/><Relationship Id="rId2" Type="http://schemas.openxmlformats.org/officeDocument/2006/relationships/slideLayout" Target="../slideLayouts/slideLayout4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52.png"/><Relationship Id="rId2" Type="http://schemas.openxmlformats.org/officeDocument/2006/relationships/image" Target="../media/image53.png"/><Relationship Id="rId3" Type="http://schemas.openxmlformats.org/officeDocument/2006/relationships/slideLayout" Target="../slideLayouts/slideLayout4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54.png"/><Relationship Id="rId2" Type="http://schemas.openxmlformats.org/officeDocument/2006/relationships/slideLayout" Target="../slideLayouts/slideLayout4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CA" sz="6000" spc="-1" strike="noStrike">
                <a:solidFill>
                  <a:srgbClr val="212529"/>
                </a:solidFill>
                <a:latin typeface="-apple-system"/>
              </a:rPr>
              <a:t>Machine Learning</a:t>
            </a:r>
            <a:br>
              <a:rPr sz="6000"/>
            </a:b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1523880" y="3078720"/>
            <a:ext cx="9143640" cy="139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Based on the material by Prof. Simon Prince 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-apple-system"/>
              </a:rPr>
              <a:t>4. Deep Neural Networks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Deep neural networks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Networks with more than one hidden layer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Intuition becomes more difficult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Deep neural networks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d18362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d18362"/>
                </a:solidFill>
                <a:latin typeface="Calibri"/>
              </a:rPr>
              <a:t>Composing two networks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Combining the two networks into one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Hyperparameters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Notation change and general case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Shallow vs. deep networks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Composing two networks.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9" name="Picture 3" descr=""/>
          <p:cNvPicPr/>
          <p:nvPr/>
        </p:nvPicPr>
        <p:blipFill>
          <a:blip r:embed="rId1"/>
          <a:stretch/>
        </p:blipFill>
        <p:spPr>
          <a:xfrm>
            <a:off x="3119040" y="1793880"/>
            <a:ext cx="2244240" cy="1179000"/>
          </a:xfrm>
          <a:prstGeom prst="rect">
            <a:avLst/>
          </a:prstGeom>
          <a:ln w="0">
            <a:noFill/>
          </a:ln>
        </p:spPr>
      </p:pic>
      <p:pic>
        <p:nvPicPr>
          <p:cNvPr id="80" name="Picture 4" descr=""/>
          <p:cNvPicPr/>
          <p:nvPr/>
        </p:nvPicPr>
        <p:blipFill>
          <a:blip r:embed="rId2"/>
          <a:stretch/>
        </p:blipFill>
        <p:spPr>
          <a:xfrm>
            <a:off x="6022440" y="2244240"/>
            <a:ext cx="3877200" cy="280800"/>
          </a:xfrm>
          <a:prstGeom prst="rect">
            <a:avLst/>
          </a:prstGeom>
          <a:ln w="0">
            <a:noFill/>
          </a:ln>
        </p:spPr>
      </p:pic>
      <p:pic>
        <p:nvPicPr>
          <p:cNvPr id="81" name="Picture 7" descr=""/>
          <p:cNvPicPr/>
          <p:nvPr/>
        </p:nvPicPr>
        <p:blipFill>
          <a:blip r:embed="rId3"/>
          <a:stretch/>
        </p:blipFill>
        <p:spPr>
          <a:xfrm>
            <a:off x="3119040" y="3381120"/>
            <a:ext cx="2244240" cy="1203840"/>
          </a:xfrm>
          <a:prstGeom prst="rect">
            <a:avLst/>
          </a:prstGeom>
          <a:ln w="0">
            <a:noFill/>
          </a:ln>
        </p:spPr>
      </p:pic>
      <p:pic>
        <p:nvPicPr>
          <p:cNvPr id="82" name="Picture 8" descr=""/>
          <p:cNvPicPr/>
          <p:nvPr/>
        </p:nvPicPr>
        <p:blipFill>
          <a:blip r:embed="rId4"/>
          <a:stretch/>
        </p:blipFill>
        <p:spPr>
          <a:xfrm>
            <a:off x="6102720" y="3820680"/>
            <a:ext cx="3877200" cy="324720"/>
          </a:xfrm>
          <a:prstGeom prst="rect">
            <a:avLst/>
          </a:prstGeom>
          <a:ln w="0">
            <a:noFill/>
          </a:ln>
        </p:spPr>
      </p:pic>
      <p:sp>
        <p:nvSpPr>
          <p:cNvPr id="83" name="TextBox 10"/>
          <p:cNvSpPr/>
          <p:nvPr/>
        </p:nvSpPr>
        <p:spPr>
          <a:xfrm>
            <a:off x="667440" y="2233080"/>
            <a:ext cx="1350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Network 1: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11"/>
          <p:cNvSpPr/>
          <p:nvPr/>
        </p:nvSpPr>
        <p:spPr>
          <a:xfrm>
            <a:off x="681840" y="3798360"/>
            <a:ext cx="1350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Network 2: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Picture 13" descr=""/>
          <p:cNvPicPr/>
          <p:nvPr/>
        </p:nvPicPr>
        <p:blipFill>
          <a:blip r:embed="rId5"/>
          <a:srcRect l="0" t="0" r="0" b="77169"/>
          <a:stretch/>
        </p:blipFill>
        <p:spPr>
          <a:xfrm>
            <a:off x="2106000" y="4905720"/>
            <a:ext cx="7166160" cy="1593000"/>
          </a:xfrm>
          <a:prstGeom prst="rect">
            <a:avLst/>
          </a:prstGeom>
          <a:ln w="0">
            <a:noFill/>
          </a:ln>
        </p:spPr>
      </p:pic>
      <p:sp>
        <p:nvSpPr>
          <p:cNvPr id="86" name="Rectangle 14"/>
          <p:cNvSpPr/>
          <p:nvPr/>
        </p:nvSpPr>
        <p:spPr>
          <a:xfrm>
            <a:off x="1970280" y="4767840"/>
            <a:ext cx="369720" cy="380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4" descr=""/>
          <p:cNvPicPr/>
          <p:nvPr/>
        </p:nvPicPr>
        <p:blipFill>
          <a:blip r:embed="rId1"/>
          <a:srcRect l="0" t="0" r="0" b="-231"/>
          <a:stretch/>
        </p:blipFill>
        <p:spPr>
          <a:xfrm>
            <a:off x="2236320" y="15480"/>
            <a:ext cx="702720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42" descr=""/>
          <p:cNvPicPr/>
          <p:nvPr/>
        </p:nvPicPr>
        <p:blipFill>
          <a:blip r:embed="rId1"/>
          <a:stretch/>
        </p:blipFill>
        <p:spPr>
          <a:xfrm>
            <a:off x="2207160" y="7920"/>
            <a:ext cx="7070400" cy="6855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1" descr=""/>
          <p:cNvPicPr/>
          <p:nvPr/>
        </p:nvPicPr>
        <p:blipFill>
          <a:blip r:embed="rId1"/>
          <a:stretch/>
        </p:blipFill>
        <p:spPr>
          <a:xfrm>
            <a:off x="2212200" y="0"/>
            <a:ext cx="706212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1" descr=""/>
          <p:cNvPicPr/>
          <p:nvPr/>
        </p:nvPicPr>
        <p:blipFill>
          <a:blip r:embed="rId1"/>
          <a:stretch/>
        </p:blipFill>
        <p:spPr>
          <a:xfrm>
            <a:off x="2212200" y="0"/>
            <a:ext cx="706212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Picture 1" descr=""/>
          <p:cNvPicPr/>
          <p:nvPr/>
        </p:nvPicPr>
        <p:blipFill>
          <a:blip r:embed="rId1"/>
          <a:stretch/>
        </p:blipFill>
        <p:spPr>
          <a:xfrm>
            <a:off x="2212200" y="0"/>
            <a:ext cx="706212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Picture 1" descr=""/>
          <p:cNvPicPr/>
          <p:nvPr/>
        </p:nvPicPr>
        <p:blipFill>
          <a:blip r:embed="rId1"/>
          <a:stretch/>
        </p:blipFill>
        <p:spPr>
          <a:xfrm>
            <a:off x="2212200" y="0"/>
            <a:ext cx="706212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Picture 1" descr=""/>
          <p:cNvPicPr/>
          <p:nvPr/>
        </p:nvPicPr>
        <p:blipFill>
          <a:blip r:embed="rId1"/>
          <a:stretch/>
        </p:blipFill>
        <p:spPr>
          <a:xfrm>
            <a:off x="2212200" y="0"/>
            <a:ext cx="706212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1" descr=""/>
          <p:cNvPicPr/>
          <p:nvPr/>
        </p:nvPicPr>
        <p:blipFill>
          <a:blip r:embed="rId1"/>
          <a:stretch/>
        </p:blipFill>
        <p:spPr>
          <a:xfrm>
            <a:off x="2212200" y="0"/>
            <a:ext cx="706212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Picture 1" descr=""/>
          <p:cNvPicPr/>
          <p:nvPr/>
        </p:nvPicPr>
        <p:blipFill>
          <a:blip r:embed="rId1"/>
          <a:stretch/>
        </p:blipFill>
        <p:spPr>
          <a:xfrm>
            <a:off x="2212200" y="0"/>
            <a:ext cx="706212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Picture 1" descr=""/>
          <p:cNvPicPr/>
          <p:nvPr/>
        </p:nvPicPr>
        <p:blipFill>
          <a:blip r:embed="rId1"/>
          <a:stretch/>
        </p:blipFill>
        <p:spPr>
          <a:xfrm>
            <a:off x="2212200" y="0"/>
            <a:ext cx="706212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Picture 3" descr=""/>
          <p:cNvPicPr/>
          <p:nvPr/>
        </p:nvPicPr>
        <p:blipFill>
          <a:blip r:embed="rId1"/>
          <a:stretch/>
        </p:blipFill>
        <p:spPr>
          <a:xfrm>
            <a:off x="2202480" y="0"/>
            <a:ext cx="708120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1" descr=""/>
          <p:cNvPicPr/>
          <p:nvPr/>
        </p:nvPicPr>
        <p:blipFill>
          <a:blip r:embed="rId1"/>
          <a:stretch/>
        </p:blipFill>
        <p:spPr>
          <a:xfrm>
            <a:off x="2212200" y="0"/>
            <a:ext cx="706212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1" descr=""/>
          <p:cNvPicPr/>
          <p:nvPr/>
        </p:nvPicPr>
        <p:blipFill>
          <a:blip r:embed="rId1"/>
          <a:stretch/>
        </p:blipFill>
        <p:spPr>
          <a:xfrm>
            <a:off x="2212200" y="0"/>
            <a:ext cx="706212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1" descr=""/>
          <p:cNvPicPr/>
          <p:nvPr/>
        </p:nvPicPr>
        <p:blipFill>
          <a:blip r:embed="rId1"/>
          <a:stretch/>
        </p:blipFill>
        <p:spPr>
          <a:xfrm>
            <a:off x="2212200" y="0"/>
            <a:ext cx="706212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1" descr=""/>
          <p:cNvPicPr/>
          <p:nvPr/>
        </p:nvPicPr>
        <p:blipFill>
          <a:blip r:embed="rId1"/>
          <a:stretch/>
        </p:blipFill>
        <p:spPr>
          <a:xfrm>
            <a:off x="2212200" y="9360"/>
            <a:ext cx="7062120" cy="683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3" descr=""/>
          <p:cNvPicPr/>
          <p:nvPr/>
        </p:nvPicPr>
        <p:blipFill>
          <a:blip r:embed="rId1"/>
          <a:stretch/>
        </p:blipFill>
        <p:spPr>
          <a:xfrm>
            <a:off x="2210760" y="9720"/>
            <a:ext cx="706212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Picture 1" descr=""/>
          <p:cNvPicPr/>
          <p:nvPr/>
        </p:nvPicPr>
        <p:blipFill>
          <a:blip r:embed="rId1"/>
          <a:stretch/>
        </p:blipFill>
        <p:spPr>
          <a:xfrm>
            <a:off x="2212200" y="0"/>
            <a:ext cx="706212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1" descr=""/>
          <p:cNvPicPr/>
          <p:nvPr/>
        </p:nvPicPr>
        <p:blipFill>
          <a:blip r:embed="rId1"/>
          <a:stretch/>
        </p:blipFill>
        <p:spPr>
          <a:xfrm>
            <a:off x="2212200" y="0"/>
            <a:ext cx="706212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Picture 1" descr=""/>
          <p:cNvPicPr/>
          <p:nvPr/>
        </p:nvPicPr>
        <p:blipFill>
          <a:blip r:embed="rId1"/>
          <a:stretch/>
        </p:blipFill>
        <p:spPr>
          <a:xfrm>
            <a:off x="2212200" y="0"/>
            <a:ext cx="706212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3" descr=""/>
          <p:cNvPicPr/>
          <p:nvPr/>
        </p:nvPicPr>
        <p:blipFill>
          <a:blip r:embed="rId1"/>
          <a:stretch/>
        </p:blipFill>
        <p:spPr>
          <a:xfrm>
            <a:off x="2212200" y="0"/>
            <a:ext cx="706212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“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Folding analogy”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8" name="Content Placeholder 8" descr=""/>
          <p:cNvPicPr/>
          <p:nvPr/>
        </p:nvPicPr>
        <p:blipFill>
          <a:blip r:embed="rId1"/>
          <a:stretch/>
        </p:blipFill>
        <p:spPr>
          <a:xfrm>
            <a:off x="609480" y="1791000"/>
            <a:ext cx="10972440" cy="3918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Comparing to shallow with six hidden units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0" name="Picture 3" descr=""/>
          <p:cNvPicPr/>
          <p:nvPr/>
        </p:nvPicPr>
        <p:blipFill>
          <a:blip r:embed="rId1"/>
          <a:srcRect l="2287" t="0" r="0" b="76614"/>
          <a:stretch/>
        </p:blipFill>
        <p:spPr>
          <a:xfrm>
            <a:off x="903600" y="1690560"/>
            <a:ext cx="6866280" cy="1599840"/>
          </a:xfrm>
          <a:prstGeom prst="rect">
            <a:avLst/>
          </a:prstGeom>
          <a:ln w="0">
            <a:noFill/>
          </a:ln>
        </p:spPr>
      </p:pic>
      <p:pic>
        <p:nvPicPr>
          <p:cNvPr id="111" name="Picture 5" descr=""/>
          <p:cNvPicPr/>
          <p:nvPr/>
        </p:nvPicPr>
        <p:blipFill>
          <a:blip r:embed="rId2"/>
          <a:stretch/>
        </p:blipFill>
        <p:spPr>
          <a:xfrm>
            <a:off x="2423160" y="3567240"/>
            <a:ext cx="3665880" cy="3048480"/>
          </a:xfrm>
          <a:prstGeom prst="rect">
            <a:avLst/>
          </a:prstGeom>
          <a:ln w="0">
            <a:noFill/>
          </a:ln>
        </p:spPr>
      </p:pic>
      <p:sp>
        <p:nvSpPr>
          <p:cNvPr id="112" name="TextBox 7"/>
          <p:cNvSpPr/>
          <p:nvPr/>
        </p:nvSpPr>
        <p:spPr>
          <a:xfrm>
            <a:off x="8734680" y="2416680"/>
            <a:ext cx="2437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20 parameters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(at least) 9 regions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Box 8"/>
          <p:cNvSpPr/>
          <p:nvPr/>
        </p:nvSpPr>
        <p:spPr>
          <a:xfrm>
            <a:off x="8751240" y="4768560"/>
            <a:ext cx="20307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19 parameters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Max 7 regions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Composing networks in 2D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5" name="Content Placeholder 4" descr=""/>
          <p:cNvPicPr/>
          <p:nvPr/>
        </p:nvPicPr>
        <p:blipFill>
          <a:blip r:embed="rId1"/>
          <a:stretch/>
        </p:blipFill>
        <p:spPr>
          <a:xfrm>
            <a:off x="1872360" y="1690560"/>
            <a:ext cx="8033400" cy="467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Deep neural networks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Composing two networks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d18362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d18362"/>
                </a:solidFill>
                <a:latin typeface="Calibri"/>
              </a:rPr>
              <a:t>Combining the two networks into one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Hyperparameters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Notation change and general case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Shallow vs. deep networks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Combine two networks into one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9" name="Content Placeholder 3" descr=""/>
          <p:cNvPicPr/>
          <p:nvPr/>
        </p:nvPicPr>
        <p:blipFill>
          <a:blip r:embed="rId1"/>
          <a:stretch/>
        </p:blipFill>
        <p:spPr>
          <a:xfrm>
            <a:off x="1835280" y="5363640"/>
            <a:ext cx="8174880" cy="1053720"/>
          </a:xfrm>
          <a:prstGeom prst="rect">
            <a:avLst/>
          </a:prstGeom>
          <a:ln w="0">
            <a:noFill/>
          </a:ln>
        </p:spPr>
      </p:pic>
      <p:pic>
        <p:nvPicPr>
          <p:cNvPr id="120" name="Picture 4" descr=""/>
          <p:cNvPicPr/>
          <p:nvPr/>
        </p:nvPicPr>
        <p:blipFill>
          <a:blip r:embed="rId2"/>
          <a:stretch/>
        </p:blipFill>
        <p:spPr>
          <a:xfrm>
            <a:off x="3119040" y="1793880"/>
            <a:ext cx="2244240" cy="1179000"/>
          </a:xfrm>
          <a:prstGeom prst="rect">
            <a:avLst/>
          </a:prstGeom>
          <a:ln w="0">
            <a:noFill/>
          </a:ln>
        </p:spPr>
      </p:pic>
      <p:pic>
        <p:nvPicPr>
          <p:cNvPr id="121" name="Picture 5" descr=""/>
          <p:cNvPicPr/>
          <p:nvPr/>
        </p:nvPicPr>
        <p:blipFill>
          <a:blip r:embed="rId3"/>
          <a:stretch/>
        </p:blipFill>
        <p:spPr>
          <a:xfrm>
            <a:off x="6022440" y="2244240"/>
            <a:ext cx="3877200" cy="280800"/>
          </a:xfrm>
          <a:prstGeom prst="rect">
            <a:avLst/>
          </a:prstGeom>
          <a:ln w="0">
            <a:noFill/>
          </a:ln>
        </p:spPr>
      </p:pic>
      <p:pic>
        <p:nvPicPr>
          <p:cNvPr id="122" name="Picture 6" descr=""/>
          <p:cNvPicPr/>
          <p:nvPr/>
        </p:nvPicPr>
        <p:blipFill>
          <a:blip r:embed="rId4"/>
          <a:stretch/>
        </p:blipFill>
        <p:spPr>
          <a:xfrm>
            <a:off x="3119040" y="3381120"/>
            <a:ext cx="2244240" cy="1203840"/>
          </a:xfrm>
          <a:prstGeom prst="rect">
            <a:avLst/>
          </a:prstGeom>
          <a:ln w="0">
            <a:noFill/>
          </a:ln>
        </p:spPr>
      </p:pic>
      <p:pic>
        <p:nvPicPr>
          <p:cNvPr id="123" name="Picture 7" descr=""/>
          <p:cNvPicPr/>
          <p:nvPr/>
        </p:nvPicPr>
        <p:blipFill>
          <a:blip r:embed="rId5"/>
          <a:stretch/>
        </p:blipFill>
        <p:spPr>
          <a:xfrm>
            <a:off x="6102720" y="3820680"/>
            <a:ext cx="3877200" cy="324720"/>
          </a:xfrm>
          <a:prstGeom prst="rect">
            <a:avLst/>
          </a:prstGeom>
          <a:ln w="0">
            <a:noFill/>
          </a:ln>
        </p:spPr>
      </p:pic>
      <p:sp>
        <p:nvSpPr>
          <p:cNvPr id="124" name="TextBox 8"/>
          <p:cNvSpPr/>
          <p:nvPr/>
        </p:nvSpPr>
        <p:spPr>
          <a:xfrm>
            <a:off x="667440" y="2233080"/>
            <a:ext cx="1350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Network 1: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9"/>
          <p:cNvSpPr/>
          <p:nvPr/>
        </p:nvSpPr>
        <p:spPr>
          <a:xfrm>
            <a:off x="681840" y="3798360"/>
            <a:ext cx="1350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Network 2: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10"/>
          <p:cNvSpPr/>
          <p:nvPr/>
        </p:nvSpPr>
        <p:spPr>
          <a:xfrm>
            <a:off x="407160" y="4805640"/>
            <a:ext cx="5371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Hidden units of second network in terms of first: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Create new variables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28" name="Content Placeholder 3" descr=""/>
          <p:cNvPicPr/>
          <p:nvPr/>
        </p:nvPicPr>
        <p:blipFill>
          <a:blip r:embed="rId1"/>
          <a:stretch/>
        </p:blipFill>
        <p:spPr>
          <a:xfrm>
            <a:off x="2106360" y="2277720"/>
            <a:ext cx="8174880" cy="1053720"/>
          </a:xfrm>
          <a:prstGeom prst="rect">
            <a:avLst/>
          </a:prstGeom>
          <a:ln w="0">
            <a:noFill/>
          </a:ln>
        </p:spPr>
      </p:pic>
      <p:pic>
        <p:nvPicPr>
          <p:cNvPr id="129" name="Picture 2" descr=""/>
          <p:cNvPicPr/>
          <p:nvPr/>
        </p:nvPicPr>
        <p:blipFill>
          <a:blip r:embed="rId2"/>
          <a:stretch/>
        </p:blipFill>
        <p:spPr>
          <a:xfrm>
            <a:off x="3387960" y="4023000"/>
            <a:ext cx="5059800" cy="1295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Two-layer network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31" name="Picture 3" descr=""/>
          <p:cNvPicPr/>
          <p:nvPr/>
        </p:nvPicPr>
        <p:blipFill>
          <a:blip r:embed="rId1"/>
          <a:stretch/>
        </p:blipFill>
        <p:spPr>
          <a:xfrm>
            <a:off x="1436400" y="4463280"/>
            <a:ext cx="9180720" cy="1963440"/>
          </a:xfrm>
          <a:prstGeom prst="rect">
            <a:avLst/>
          </a:prstGeom>
          <a:ln w="0">
            <a:noFill/>
          </a:ln>
        </p:spPr>
      </p:pic>
      <p:pic>
        <p:nvPicPr>
          <p:cNvPr id="132" name="Picture 4" descr=""/>
          <p:cNvPicPr/>
          <p:nvPr/>
        </p:nvPicPr>
        <p:blipFill>
          <a:blip r:embed="rId2"/>
          <a:stretch/>
        </p:blipFill>
        <p:spPr>
          <a:xfrm>
            <a:off x="2242080" y="1782720"/>
            <a:ext cx="2244240" cy="1179000"/>
          </a:xfrm>
          <a:prstGeom prst="rect">
            <a:avLst/>
          </a:prstGeom>
          <a:ln w="0">
            <a:noFill/>
          </a:ln>
        </p:spPr>
      </p:pic>
      <p:pic>
        <p:nvPicPr>
          <p:cNvPr id="133" name="Picture 5" descr=""/>
          <p:cNvPicPr/>
          <p:nvPr/>
        </p:nvPicPr>
        <p:blipFill>
          <a:blip r:embed="rId3"/>
          <a:stretch/>
        </p:blipFill>
        <p:spPr>
          <a:xfrm>
            <a:off x="4098960" y="3570840"/>
            <a:ext cx="3877200" cy="324720"/>
          </a:xfrm>
          <a:prstGeom prst="rect">
            <a:avLst/>
          </a:prstGeom>
          <a:ln w="0">
            <a:noFill/>
          </a:ln>
        </p:spPr>
      </p:pic>
      <p:pic>
        <p:nvPicPr>
          <p:cNvPr id="134" name="Picture 6" descr=""/>
          <p:cNvPicPr/>
          <p:nvPr/>
        </p:nvPicPr>
        <p:blipFill>
          <a:blip r:embed="rId4"/>
          <a:stretch/>
        </p:blipFill>
        <p:spPr>
          <a:xfrm>
            <a:off x="5862240" y="1782720"/>
            <a:ext cx="4765680" cy="1220400"/>
          </a:xfrm>
          <a:prstGeom prst="rect">
            <a:avLst/>
          </a:prstGeom>
          <a:ln w="0">
            <a:noFill/>
          </a:ln>
        </p:spPr>
      </p:pic>
      <p:cxnSp>
        <p:nvCxnSpPr>
          <p:cNvPr id="135" name="Straight Connector 8"/>
          <p:cNvCxnSpPr/>
          <p:nvPr/>
        </p:nvCxnSpPr>
        <p:spPr>
          <a:xfrm>
            <a:off x="2241720" y="4147200"/>
            <a:ext cx="7163640" cy="360"/>
          </a:xfrm>
          <a:prstGeom prst="straightConnector1">
            <a:avLst/>
          </a:prstGeom>
          <a:ln>
            <a:solidFill>
              <a:srgbClr val="4472c4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Two-layer network as one equation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37" name="Picture 4" descr=""/>
          <p:cNvPicPr/>
          <p:nvPr/>
        </p:nvPicPr>
        <p:blipFill>
          <a:blip r:embed="rId1"/>
          <a:stretch/>
        </p:blipFill>
        <p:spPr>
          <a:xfrm>
            <a:off x="2242080" y="1782720"/>
            <a:ext cx="2244240" cy="1179000"/>
          </a:xfrm>
          <a:prstGeom prst="rect">
            <a:avLst/>
          </a:prstGeom>
          <a:ln w="0">
            <a:noFill/>
          </a:ln>
        </p:spPr>
      </p:pic>
      <p:pic>
        <p:nvPicPr>
          <p:cNvPr id="138" name="Picture 5" descr=""/>
          <p:cNvPicPr/>
          <p:nvPr/>
        </p:nvPicPr>
        <p:blipFill>
          <a:blip r:embed="rId2"/>
          <a:stretch/>
        </p:blipFill>
        <p:spPr>
          <a:xfrm>
            <a:off x="4098960" y="3570840"/>
            <a:ext cx="3877200" cy="324720"/>
          </a:xfrm>
          <a:prstGeom prst="rect">
            <a:avLst/>
          </a:prstGeom>
          <a:ln w="0">
            <a:noFill/>
          </a:ln>
        </p:spPr>
      </p:pic>
      <p:pic>
        <p:nvPicPr>
          <p:cNvPr id="139" name="Picture 8" descr=""/>
          <p:cNvPicPr/>
          <p:nvPr/>
        </p:nvPicPr>
        <p:blipFill>
          <a:blip r:embed="rId3"/>
          <a:stretch/>
        </p:blipFill>
        <p:spPr>
          <a:xfrm>
            <a:off x="758160" y="4594320"/>
            <a:ext cx="10559160" cy="1325160"/>
          </a:xfrm>
          <a:prstGeom prst="rect">
            <a:avLst/>
          </a:prstGeom>
          <a:ln w="0">
            <a:noFill/>
          </a:ln>
        </p:spPr>
      </p:pic>
      <p:cxnSp>
        <p:nvCxnSpPr>
          <p:cNvPr id="140" name="Straight Connector 9"/>
          <p:cNvCxnSpPr/>
          <p:nvPr/>
        </p:nvCxnSpPr>
        <p:spPr>
          <a:xfrm>
            <a:off x="2241720" y="4147200"/>
            <a:ext cx="7163640" cy="360"/>
          </a:xfrm>
          <a:prstGeom prst="straightConnector1">
            <a:avLst/>
          </a:prstGeom>
          <a:ln>
            <a:solidFill>
              <a:srgbClr val="4472c4"/>
            </a:solidFill>
          </a:ln>
        </p:spPr>
      </p:cxnSp>
      <p:pic>
        <p:nvPicPr>
          <p:cNvPr id="141" name="Picture 2" descr=""/>
          <p:cNvPicPr/>
          <p:nvPr/>
        </p:nvPicPr>
        <p:blipFill>
          <a:blip r:embed="rId4"/>
          <a:stretch/>
        </p:blipFill>
        <p:spPr>
          <a:xfrm>
            <a:off x="5897520" y="1709640"/>
            <a:ext cx="4765680" cy="1220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Calibri Light"/>
              </a:rPr>
              <a:t>Remember shallow network with two outputs?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55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1 input, 4 hidden units, 2 outputs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44" name="Graphic 4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351440" y="4480560"/>
            <a:ext cx="4096080" cy="2188800"/>
          </a:xfrm>
          <a:prstGeom prst="rect">
            <a:avLst/>
          </a:prstGeom>
          <a:ln w="0">
            <a:noFill/>
          </a:ln>
        </p:spPr>
      </p:pic>
      <p:pic>
        <p:nvPicPr>
          <p:cNvPr id="145" name="Picture 7" descr=""/>
          <p:cNvPicPr/>
          <p:nvPr/>
        </p:nvPicPr>
        <p:blipFill>
          <a:blip r:embed="rId3"/>
          <a:stretch/>
        </p:blipFill>
        <p:spPr>
          <a:xfrm>
            <a:off x="2611440" y="2512440"/>
            <a:ext cx="2018520" cy="1447920"/>
          </a:xfrm>
          <a:prstGeom prst="rect">
            <a:avLst/>
          </a:prstGeom>
          <a:ln w="0">
            <a:noFill/>
          </a:ln>
        </p:spPr>
      </p:pic>
      <p:pic>
        <p:nvPicPr>
          <p:cNvPr id="146" name="Picture 8" descr=""/>
          <p:cNvPicPr/>
          <p:nvPr/>
        </p:nvPicPr>
        <p:blipFill>
          <a:blip r:embed="rId4"/>
          <a:stretch/>
        </p:blipFill>
        <p:spPr>
          <a:xfrm>
            <a:off x="5447880" y="2752200"/>
            <a:ext cx="5126400" cy="676440"/>
          </a:xfrm>
          <a:prstGeom prst="rect">
            <a:avLst/>
          </a:prstGeom>
          <a:ln w="0">
            <a:noFill/>
          </a:ln>
        </p:spPr>
      </p:pic>
      <p:pic>
        <p:nvPicPr>
          <p:cNvPr id="147" name="Graphic 9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174720" y="4199040"/>
            <a:ext cx="3952080" cy="2452680"/>
          </a:xfrm>
          <a:prstGeom prst="rect">
            <a:avLst/>
          </a:prstGeom>
          <a:ln w="0">
            <a:noFill/>
          </a:ln>
        </p:spPr>
      </p:pic>
      <p:sp>
        <p:nvSpPr>
          <p:cNvPr id="148" name="Rectangle 3"/>
          <p:cNvSpPr/>
          <p:nvPr/>
        </p:nvSpPr>
        <p:spPr>
          <a:xfrm>
            <a:off x="6095880" y="4141800"/>
            <a:ext cx="390600" cy="338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Networks as composing functions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50" name="Picture 3" descr=""/>
          <p:cNvPicPr/>
          <p:nvPr/>
        </p:nvPicPr>
        <p:blipFill>
          <a:blip r:embed="rId1"/>
          <a:srcRect l="0" t="0" r="2927" b="0"/>
          <a:stretch/>
        </p:blipFill>
        <p:spPr>
          <a:xfrm>
            <a:off x="1436400" y="4463280"/>
            <a:ext cx="8911440" cy="1963440"/>
          </a:xfrm>
          <a:prstGeom prst="rect">
            <a:avLst/>
          </a:prstGeom>
          <a:ln w="0">
            <a:noFill/>
          </a:ln>
        </p:spPr>
      </p:pic>
      <p:pic>
        <p:nvPicPr>
          <p:cNvPr id="151" name="Picture 4" descr=""/>
          <p:cNvPicPr/>
          <p:nvPr/>
        </p:nvPicPr>
        <p:blipFill>
          <a:blip r:embed="rId2"/>
          <a:stretch/>
        </p:blipFill>
        <p:spPr>
          <a:xfrm>
            <a:off x="2242080" y="1782720"/>
            <a:ext cx="2244240" cy="1179000"/>
          </a:xfrm>
          <a:prstGeom prst="rect">
            <a:avLst/>
          </a:prstGeom>
          <a:ln w="0">
            <a:noFill/>
          </a:ln>
        </p:spPr>
      </p:pic>
      <p:cxnSp>
        <p:nvCxnSpPr>
          <p:cNvPr id="152" name="Straight Connector 8"/>
          <p:cNvCxnSpPr/>
          <p:nvPr/>
        </p:nvCxnSpPr>
        <p:spPr>
          <a:xfrm>
            <a:off x="2241720" y="4147200"/>
            <a:ext cx="7163640" cy="360"/>
          </a:xfrm>
          <a:prstGeom prst="straightConnector1">
            <a:avLst/>
          </a:prstGeom>
          <a:ln>
            <a:solidFill>
              <a:srgbClr val="4472c4"/>
            </a:solidFill>
          </a:ln>
        </p:spPr>
      </p:cxnSp>
      <p:sp>
        <p:nvSpPr>
          <p:cNvPr id="153" name="Oval 2"/>
          <p:cNvSpPr/>
          <p:nvPr/>
        </p:nvSpPr>
        <p:spPr>
          <a:xfrm>
            <a:off x="6766560" y="1572840"/>
            <a:ext cx="3850560" cy="703800"/>
          </a:xfrm>
          <a:prstGeom prst="ellipse">
            <a:avLst/>
          </a:prstGeom>
          <a:noFill/>
          <a:ln w="28575">
            <a:solidFill>
              <a:srgbClr val="d183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" name="Oval 7"/>
          <p:cNvSpPr/>
          <p:nvPr/>
        </p:nvSpPr>
        <p:spPr>
          <a:xfrm>
            <a:off x="6373440" y="4460400"/>
            <a:ext cx="502560" cy="1894320"/>
          </a:xfrm>
          <a:prstGeom prst="ellipse">
            <a:avLst/>
          </a:prstGeom>
          <a:noFill/>
          <a:ln w="28575">
            <a:solidFill>
              <a:srgbClr val="d183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TextBox 9"/>
          <p:cNvSpPr/>
          <p:nvPr/>
        </p:nvSpPr>
        <p:spPr>
          <a:xfrm>
            <a:off x="2049840" y="3316320"/>
            <a:ext cx="74318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Consider the pre-activations at the second hidden units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At this point, it’s a one--layer network with three outputs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6" name="Picture 10" descr=""/>
          <p:cNvPicPr/>
          <p:nvPr/>
        </p:nvPicPr>
        <p:blipFill>
          <a:blip r:embed="rId3"/>
          <a:stretch/>
        </p:blipFill>
        <p:spPr>
          <a:xfrm>
            <a:off x="5897520" y="1709640"/>
            <a:ext cx="4765680" cy="1220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Content Placeholder 16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54840" y="212760"/>
            <a:ext cx="10894680" cy="3107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Content Placeholder 16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54840" y="212760"/>
            <a:ext cx="10894680" cy="640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Content Placeholder 16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54840" y="108720"/>
            <a:ext cx="10894680" cy="646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Content Placeholder 16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54840" y="87120"/>
            <a:ext cx="10894680" cy="6770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Deep neural networks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Composing two networks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Combining the two networks into one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d18362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d18362"/>
                </a:solidFill>
                <a:latin typeface="Calibri"/>
              </a:rPr>
              <a:t>Hyperparameters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Notation change and general case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Shallow vs. deep networks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Hyperparameters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blipFill rotWithShape="0">
            <a:blip r:embed="rId1"/>
            <a:stretch>
              <a:fillRect l="-1088" t="-2333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Deep neural networks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Composing two networks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Combining the two networks into one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Hyperparameters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d18362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d18362"/>
                </a:solidFill>
                <a:latin typeface="Calibri"/>
              </a:rPr>
              <a:t>Notation change and general case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Shallow vs. deep networks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Notation change #1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68" name="Picture 3" descr=""/>
          <p:cNvPicPr/>
          <p:nvPr/>
        </p:nvPicPr>
        <p:blipFill>
          <a:blip r:embed="rId1"/>
          <a:stretch/>
        </p:blipFill>
        <p:spPr>
          <a:xfrm>
            <a:off x="961920" y="1782720"/>
            <a:ext cx="1955160" cy="1027080"/>
          </a:xfrm>
          <a:prstGeom prst="rect">
            <a:avLst/>
          </a:prstGeom>
          <a:ln w="0">
            <a:noFill/>
          </a:ln>
        </p:spPr>
      </p:pic>
      <p:pic>
        <p:nvPicPr>
          <p:cNvPr id="169" name="Picture 4" descr=""/>
          <p:cNvPicPr/>
          <p:nvPr/>
        </p:nvPicPr>
        <p:blipFill>
          <a:blip r:embed="rId2"/>
          <a:stretch/>
        </p:blipFill>
        <p:spPr>
          <a:xfrm>
            <a:off x="961920" y="5609160"/>
            <a:ext cx="3492000" cy="292680"/>
          </a:xfrm>
          <a:prstGeom prst="rect">
            <a:avLst/>
          </a:prstGeom>
          <a:ln w="0">
            <a:noFill/>
          </a:ln>
        </p:spPr>
      </p:pic>
      <p:pic>
        <p:nvPicPr>
          <p:cNvPr id="170" name="Picture 7" descr=""/>
          <p:cNvPicPr/>
          <p:nvPr/>
        </p:nvPicPr>
        <p:blipFill>
          <a:blip r:embed="rId3"/>
          <a:stretch/>
        </p:blipFill>
        <p:spPr>
          <a:xfrm>
            <a:off x="6553080" y="1821240"/>
            <a:ext cx="3389760" cy="992160"/>
          </a:xfrm>
          <a:prstGeom prst="rect">
            <a:avLst/>
          </a:prstGeom>
          <a:ln w="0">
            <a:noFill/>
          </a:ln>
        </p:spPr>
      </p:pic>
      <p:pic>
        <p:nvPicPr>
          <p:cNvPr id="171" name="Picture 8" descr=""/>
          <p:cNvPicPr/>
          <p:nvPr/>
        </p:nvPicPr>
        <p:blipFill>
          <a:blip r:embed="rId4"/>
          <a:stretch/>
        </p:blipFill>
        <p:spPr>
          <a:xfrm>
            <a:off x="6513480" y="3644280"/>
            <a:ext cx="5352120" cy="992160"/>
          </a:xfrm>
          <a:prstGeom prst="rect">
            <a:avLst/>
          </a:prstGeom>
          <a:ln w="0">
            <a:noFill/>
          </a:ln>
        </p:spPr>
      </p:pic>
      <p:pic>
        <p:nvPicPr>
          <p:cNvPr id="172" name="Picture 9" descr=""/>
          <p:cNvPicPr/>
          <p:nvPr/>
        </p:nvPicPr>
        <p:blipFill>
          <a:blip r:embed="rId5"/>
          <a:stretch/>
        </p:blipFill>
        <p:spPr>
          <a:xfrm>
            <a:off x="6581880" y="5206320"/>
            <a:ext cx="3534120" cy="1018440"/>
          </a:xfrm>
          <a:prstGeom prst="rect">
            <a:avLst/>
          </a:prstGeom>
          <a:ln w="0">
            <a:noFill/>
          </a:ln>
        </p:spPr>
      </p:pic>
      <p:cxnSp>
        <p:nvCxnSpPr>
          <p:cNvPr id="173" name="Straight Arrow Connector 13"/>
          <p:cNvCxnSpPr/>
          <p:nvPr/>
        </p:nvCxnSpPr>
        <p:spPr>
          <a:xfrm>
            <a:off x="3191040" y="2372040"/>
            <a:ext cx="2835000" cy="36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174" name="Straight Arrow Connector 15"/>
          <p:cNvCxnSpPr/>
          <p:nvPr/>
        </p:nvCxnSpPr>
        <p:spPr>
          <a:xfrm>
            <a:off x="5221080" y="4161240"/>
            <a:ext cx="875160" cy="36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175" name="Straight Arrow Connector 17"/>
          <p:cNvCxnSpPr/>
          <p:nvPr/>
        </p:nvCxnSpPr>
        <p:spPr>
          <a:xfrm>
            <a:off x="4709160" y="5758560"/>
            <a:ext cx="1387080" cy="36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pic>
        <p:nvPicPr>
          <p:cNvPr id="176" name="Picture 6" descr=""/>
          <p:cNvPicPr/>
          <p:nvPr/>
        </p:nvPicPr>
        <p:blipFill>
          <a:blip r:embed="rId6"/>
          <a:stretch/>
        </p:blipFill>
        <p:spPr>
          <a:xfrm>
            <a:off x="838080" y="3558600"/>
            <a:ext cx="4011120" cy="1027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Notation change #2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78" name="Picture 7" descr=""/>
          <p:cNvPicPr/>
          <p:nvPr/>
        </p:nvPicPr>
        <p:blipFill>
          <a:blip r:embed="rId1"/>
          <a:stretch/>
        </p:blipFill>
        <p:spPr>
          <a:xfrm>
            <a:off x="838080" y="1821240"/>
            <a:ext cx="3389760" cy="992160"/>
          </a:xfrm>
          <a:prstGeom prst="rect">
            <a:avLst/>
          </a:prstGeom>
          <a:ln w="0">
            <a:noFill/>
          </a:ln>
        </p:spPr>
      </p:pic>
      <p:pic>
        <p:nvPicPr>
          <p:cNvPr id="179" name="Picture 8" descr=""/>
          <p:cNvPicPr/>
          <p:nvPr/>
        </p:nvPicPr>
        <p:blipFill>
          <a:blip r:embed="rId2"/>
          <a:stretch/>
        </p:blipFill>
        <p:spPr>
          <a:xfrm>
            <a:off x="838080" y="3665160"/>
            <a:ext cx="5352120" cy="992160"/>
          </a:xfrm>
          <a:prstGeom prst="rect">
            <a:avLst/>
          </a:prstGeom>
          <a:ln w="0">
            <a:noFill/>
          </a:ln>
        </p:spPr>
      </p:pic>
      <p:pic>
        <p:nvPicPr>
          <p:cNvPr id="180" name="Picture 9" descr=""/>
          <p:cNvPicPr/>
          <p:nvPr/>
        </p:nvPicPr>
        <p:blipFill>
          <a:blip r:embed="rId3"/>
          <a:stretch/>
        </p:blipFill>
        <p:spPr>
          <a:xfrm>
            <a:off x="838080" y="4999680"/>
            <a:ext cx="3534120" cy="1018440"/>
          </a:xfrm>
          <a:prstGeom prst="rect">
            <a:avLst/>
          </a:prstGeom>
          <a:ln w="0">
            <a:noFill/>
          </a:ln>
        </p:spPr>
      </p:pic>
      <p:cxnSp>
        <p:nvCxnSpPr>
          <p:cNvPr id="181" name="Straight Arrow Connector 13"/>
          <p:cNvCxnSpPr/>
          <p:nvPr/>
        </p:nvCxnSpPr>
        <p:spPr>
          <a:xfrm>
            <a:off x="4489560" y="2317320"/>
            <a:ext cx="2835000" cy="36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182" name="Straight Arrow Connector 15"/>
          <p:cNvCxnSpPr/>
          <p:nvPr/>
        </p:nvCxnSpPr>
        <p:spPr>
          <a:xfrm>
            <a:off x="6336720" y="4161240"/>
            <a:ext cx="875160" cy="36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183" name="Straight Arrow Connector 17"/>
          <p:cNvCxnSpPr/>
          <p:nvPr/>
        </p:nvCxnSpPr>
        <p:spPr>
          <a:xfrm>
            <a:off x="4709160" y="5509080"/>
            <a:ext cx="2502720" cy="36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pic>
        <p:nvPicPr>
          <p:cNvPr id="184" name="Picture 10" descr=""/>
          <p:cNvPicPr/>
          <p:nvPr/>
        </p:nvPicPr>
        <p:blipFill>
          <a:blip r:embed="rId4"/>
          <a:stretch/>
        </p:blipFill>
        <p:spPr>
          <a:xfrm>
            <a:off x="7795080" y="2082600"/>
            <a:ext cx="2984040" cy="469440"/>
          </a:xfrm>
          <a:prstGeom prst="rect">
            <a:avLst/>
          </a:prstGeom>
          <a:ln w="0">
            <a:noFill/>
          </a:ln>
        </p:spPr>
      </p:pic>
      <p:pic>
        <p:nvPicPr>
          <p:cNvPr id="185" name="Picture 11" descr=""/>
          <p:cNvPicPr/>
          <p:nvPr/>
        </p:nvPicPr>
        <p:blipFill>
          <a:blip r:embed="rId5"/>
          <a:stretch/>
        </p:blipFill>
        <p:spPr>
          <a:xfrm>
            <a:off x="7795080" y="3913920"/>
            <a:ext cx="3377880" cy="495000"/>
          </a:xfrm>
          <a:prstGeom prst="rect">
            <a:avLst/>
          </a:prstGeom>
          <a:ln w="0">
            <a:noFill/>
          </a:ln>
        </p:spPr>
      </p:pic>
      <p:pic>
        <p:nvPicPr>
          <p:cNvPr id="186" name="Picture 12" descr=""/>
          <p:cNvPicPr/>
          <p:nvPr/>
        </p:nvPicPr>
        <p:blipFill>
          <a:blip r:embed="rId6"/>
          <a:stretch/>
        </p:blipFill>
        <p:spPr>
          <a:xfrm>
            <a:off x="7799760" y="5244120"/>
            <a:ext cx="2768400" cy="507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Notation change #3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cxnSp>
        <p:nvCxnSpPr>
          <p:cNvPr id="188" name="Straight Arrow Connector 3"/>
          <p:cNvCxnSpPr/>
          <p:nvPr/>
        </p:nvCxnSpPr>
        <p:spPr>
          <a:xfrm flipH="1">
            <a:off x="10716480" y="1434600"/>
            <a:ext cx="93600" cy="59724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189" name="Straight Arrow Connector 4"/>
          <p:cNvCxnSpPr/>
          <p:nvPr/>
        </p:nvCxnSpPr>
        <p:spPr>
          <a:xfrm>
            <a:off x="4608360" y="3898080"/>
            <a:ext cx="2603520" cy="36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190" name="Straight Arrow Connector 5"/>
          <p:cNvCxnSpPr/>
          <p:nvPr/>
        </p:nvCxnSpPr>
        <p:spPr>
          <a:xfrm>
            <a:off x="4709160" y="5509080"/>
            <a:ext cx="2502720" cy="36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pic>
        <p:nvPicPr>
          <p:cNvPr id="191" name="Picture 6" descr=""/>
          <p:cNvPicPr/>
          <p:nvPr/>
        </p:nvPicPr>
        <p:blipFill>
          <a:blip r:embed="rId1"/>
          <a:stretch/>
        </p:blipFill>
        <p:spPr>
          <a:xfrm>
            <a:off x="838080" y="2082600"/>
            <a:ext cx="2984040" cy="469440"/>
          </a:xfrm>
          <a:prstGeom prst="rect">
            <a:avLst/>
          </a:prstGeom>
          <a:ln w="0">
            <a:noFill/>
          </a:ln>
        </p:spPr>
      </p:pic>
      <p:pic>
        <p:nvPicPr>
          <p:cNvPr id="192" name="Picture 7" descr=""/>
          <p:cNvPicPr/>
          <p:nvPr/>
        </p:nvPicPr>
        <p:blipFill>
          <a:blip r:embed="rId2"/>
          <a:stretch/>
        </p:blipFill>
        <p:spPr>
          <a:xfrm>
            <a:off x="838080" y="3650760"/>
            <a:ext cx="3377880" cy="495000"/>
          </a:xfrm>
          <a:prstGeom prst="rect">
            <a:avLst/>
          </a:prstGeom>
          <a:ln w="0">
            <a:noFill/>
          </a:ln>
        </p:spPr>
      </p:pic>
      <p:pic>
        <p:nvPicPr>
          <p:cNvPr id="193" name="Picture 9" descr=""/>
          <p:cNvPicPr/>
          <p:nvPr/>
        </p:nvPicPr>
        <p:blipFill>
          <a:blip r:embed="rId3"/>
          <a:stretch/>
        </p:blipFill>
        <p:spPr>
          <a:xfrm>
            <a:off x="946080" y="5244120"/>
            <a:ext cx="2768400" cy="507600"/>
          </a:xfrm>
          <a:prstGeom prst="rect">
            <a:avLst/>
          </a:prstGeom>
          <a:ln w="0">
            <a:noFill/>
          </a:ln>
        </p:spPr>
      </p:pic>
      <p:pic>
        <p:nvPicPr>
          <p:cNvPr id="194" name="Picture 15" descr=""/>
          <p:cNvPicPr/>
          <p:nvPr/>
        </p:nvPicPr>
        <p:blipFill>
          <a:blip r:embed="rId4"/>
          <a:stretch/>
        </p:blipFill>
        <p:spPr>
          <a:xfrm>
            <a:off x="7991280" y="2073600"/>
            <a:ext cx="3492000" cy="469440"/>
          </a:xfrm>
          <a:prstGeom prst="rect">
            <a:avLst/>
          </a:prstGeom>
          <a:ln w="0">
            <a:noFill/>
          </a:ln>
        </p:spPr>
      </p:pic>
      <p:pic>
        <p:nvPicPr>
          <p:cNvPr id="195" name="Picture 17" descr=""/>
          <p:cNvPicPr/>
          <p:nvPr/>
        </p:nvPicPr>
        <p:blipFill>
          <a:blip r:embed="rId5"/>
          <a:stretch/>
        </p:blipFill>
        <p:spPr>
          <a:xfrm>
            <a:off x="7991280" y="3676320"/>
            <a:ext cx="3695400" cy="469440"/>
          </a:xfrm>
          <a:prstGeom prst="rect">
            <a:avLst/>
          </a:prstGeom>
          <a:ln w="0">
            <a:noFill/>
          </a:ln>
        </p:spPr>
      </p:pic>
      <p:pic>
        <p:nvPicPr>
          <p:cNvPr id="196" name="Picture 18" descr=""/>
          <p:cNvPicPr/>
          <p:nvPr/>
        </p:nvPicPr>
        <p:blipFill>
          <a:blip r:embed="rId6"/>
          <a:stretch/>
        </p:blipFill>
        <p:spPr>
          <a:xfrm>
            <a:off x="8056800" y="5265720"/>
            <a:ext cx="3009600" cy="444240"/>
          </a:xfrm>
          <a:prstGeom prst="rect">
            <a:avLst/>
          </a:prstGeom>
          <a:ln w="0">
            <a:noFill/>
          </a:ln>
        </p:spPr>
      </p:pic>
      <p:sp>
        <p:nvSpPr>
          <p:cNvPr id="197" name="TextBox 20"/>
          <p:cNvSpPr/>
          <p:nvPr/>
        </p:nvSpPr>
        <p:spPr>
          <a:xfrm>
            <a:off x="7698960" y="901800"/>
            <a:ext cx="1078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d18362"/>
                </a:solidFill>
                <a:latin typeface="Calibri"/>
              </a:rPr>
              <a:t>Bias vector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Box 21"/>
          <p:cNvSpPr/>
          <p:nvPr/>
        </p:nvSpPr>
        <p:spPr>
          <a:xfrm>
            <a:off x="10463760" y="843120"/>
            <a:ext cx="1078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d18362"/>
                </a:solidFill>
                <a:latin typeface="Calibri"/>
              </a:rPr>
              <a:t>Weight matrix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99" name="Straight Arrow Connector 23"/>
          <p:cNvCxnSpPr/>
          <p:nvPr/>
        </p:nvCxnSpPr>
        <p:spPr>
          <a:xfrm>
            <a:off x="8592120" y="1471680"/>
            <a:ext cx="877680" cy="43812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200" name="Straight Arrow Connector 25"/>
          <p:cNvCxnSpPr/>
          <p:nvPr/>
        </p:nvCxnSpPr>
        <p:spPr>
          <a:xfrm>
            <a:off x="4514040" y="2390400"/>
            <a:ext cx="2603160" cy="36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General equations for deep network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02" name="Picture 5" descr=""/>
          <p:cNvPicPr/>
          <p:nvPr/>
        </p:nvPicPr>
        <p:blipFill>
          <a:blip r:embed="rId1"/>
          <a:stretch/>
        </p:blipFill>
        <p:spPr>
          <a:xfrm>
            <a:off x="3960000" y="1690560"/>
            <a:ext cx="4271400" cy="3174840"/>
          </a:xfrm>
          <a:prstGeom prst="rect">
            <a:avLst/>
          </a:prstGeom>
          <a:ln w="0">
            <a:noFill/>
          </a:ln>
        </p:spPr>
      </p:pic>
      <p:pic>
        <p:nvPicPr>
          <p:cNvPr id="203" name="Picture 7" descr=""/>
          <p:cNvPicPr/>
          <p:nvPr/>
        </p:nvPicPr>
        <p:blipFill>
          <a:blip r:embed="rId2"/>
          <a:stretch/>
        </p:blipFill>
        <p:spPr>
          <a:xfrm>
            <a:off x="671400" y="5781960"/>
            <a:ext cx="10681920" cy="408960"/>
          </a:xfrm>
          <a:prstGeom prst="rect">
            <a:avLst/>
          </a:prstGeom>
          <a:ln w="0">
            <a:noFill/>
          </a:ln>
        </p:spPr>
      </p:pic>
      <p:cxnSp>
        <p:nvCxnSpPr>
          <p:cNvPr id="204" name="Straight Connector 8"/>
          <p:cNvCxnSpPr/>
          <p:nvPr/>
        </p:nvCxnSpPr>
        <p:spPr>
          <a:xfrm>
            <a:off x="2296800" y="5345280"/>
            <a:ext cx="7163640" cy="360"/>
          </a:xfrm>
          <a:prstGeom prst="straightConnector1">
            <a:avLst/>
          </a:prstGeom>
          <a:ln>
            <a:solidFill>
              <a:srgbClr val="4472c4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Example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06" name="Content Placeholder 4" descr=""/>
          <p:cNvPicPr/>
          <p:nvPr/>
        </p:nvPicPr>
        <p:blipFill>
          <a:blip r:embed="rId1"/>
          <a:stretch/>
        </p:blipFill>
        <p:spPr>
          <a:xfrm>
            <a:off x="1456200" y="1718280"/>
            <a:ext cx="9279360" cy="4306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Deep neural networks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Composing two networks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Combining the two networks into one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Hyperparameters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Notation change and general case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d18362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d18362"/>
                </a:solidFill>
                <a:latin typeface="Calibri"/>
              </a:rPr>
              <a:t>Shallow vs. deep networks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Shallow vs. deep networks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The best results are created by deep networks with many layers.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50-1000 layers for most applications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Best results in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Computer vision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Natural language processing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Graph neural networks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Generative models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Reinforcement learning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1" name="Right Brace 3"/>
          <p:cNvSpPr/>
          <p:nvPr/>
        </p:nvSpPr>
        <p:spPr>
          <a:xfrm>
            <a:off x="5449680" y="2990160"/>
            <a:ext cx="273960" cy="1855800"/>
          </a:xfrm>
          <a:prstGeom prst="rightBrace">
            <a:avLst>
              <a:gd name="adj1" fmla="val 8333"/>
              <a:gd name="adj2" fmla="val 50000"/>
            </a:avLst>
          </a:prstGeom>
          <a:noFill/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2" name="TextBox 4"/>
          <p:cNvSpPr/>
          <p:nvPr/>
        </p:nvSpPr>
        <p:spPr>
          <a:xfrm>
            <a:off x="6099120" y="3594960"/>
            <a:ext cx="2675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All use deep networks.  But why?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Shallow vs. deep networks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975096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Ability to approximate different functions?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Both obey the universal approximation theorem.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Argument:  One layer is enough, and for deep networks could arrange for the other layers to compute the identity function.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Shallow vs. deep networks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2.  Number of linear regions per parameter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	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Number of linear regions per parameter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8" name="TextBox 5"/>
          <p:cNvSpPr/>
          <p:nvPr/>
        </p:nvSpPr>
        <p:spPr>
          <a:xfrm>
            <a:off x="2185560" y="5292720"/>
            <a:ext cx="32090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5 layers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10 hidden units per layer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471 parameters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161,501 linear regions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Box 6"/>
          <p:cNvSpPr/>
          <p:nvPr/>
        </p:nvSpPr>
        <p:spPr>
          <a:xfrm>
            <a:off x="7038000" y="5362560"/>
            <a:ext cx="3209040" cy="122364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0" name="Picture 7" descr=""/>
          <p:cNvPicPr/>
          <p:nvPr/>
        </p:nvPicPr>
        <p:blipFill>
          <a:blip r:embed="rId2"/>
          <a:stretch/>
        </p:blipFill>
        <p:spPr>
          <a:xfrm>
            <a:off x="838080" y="1676520"/>
            <a:ext cx="10515240" cy="3504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Shallow vs. deep networks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2.  Number of linear regions per parameter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Deep networks create many more regions per parameters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But there are dependencies between them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Think of folding example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Perhaps similar symmetries in real-world functions? Unknown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	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Shallow vs. Deep Networks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0336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3. Depth efficiency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There are some functions that require a shallow network with exponentially more hidden units than a deep network to achieve an equivalent approximation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This is known as the </a:t>
            </a:r>
            <a:r>
              <a:rPr b="0" lang="en-US" sz="2800" spc="-1" strike="noStrike">
                <a:solidFill>
                  <a:srgbClr val="d18362"/>
                </a:solidFill>
                <a:latin typeface="Calibri"/>
              </a:rPr>
              <a:t>depth efficiency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of deep networks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But do the real-world functions we want to approximate have this property?  Unknown.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Shallow vs. Deep Networks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4. Large structured networks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Think about images as input – might be 1M pixels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Fully connected works not practical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Answer is to have weights that only operate locally, and share across image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This leads to </a:t>
            </a:r>
            <a:r>
              <a:rPr b="0" lang="en-US" sz="2400" spc="-1" strike="noStrike">
                <a:solidFill>
                  <a:srgbClr val="d18362"/>
                </a:solidFill>
                <a:latin typeface="Calibri"/>
              </a:rPr>
              <a:t>convolutional networks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Gradually integrate information from across the image – needs multiple layers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Shallow vs. Deep Networks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5. Fitting and generalization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Fitting of deep models seems to be easier up to about 20 layers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Then needs various tricks to train deeper networks, so (in vanilla form), fitting becomes harder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Generalization is good in deep networks. Why?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Shallow vs. Deep Networks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5. Fitting and generalization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Fitting of deep models is also faster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31" name="Picture 3" descr=""/>
          <p:cNvPicPr/>
          <p:nvPr/>
        </p:nvPicPr>
        <p:blipFill>
          <a:blip r:embed="rId1"/>
          <a:stretch/>
        </p:blipFill>
        <p:spPr>
          <a:xfrm>
            <a:off x="758160" y="2571120"/>
            <a:ext cx="11433600" cy="3921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Where are we going?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We have defined families of very flexible networks that map multiple inputs to multiple outputs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Now we need to train them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How to choose loss functions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How to find minima of the loss function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How to do this in particular for deep networks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Then we need to test them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7918</TotalTime>
  <Application>LibreOffice/24.2.7.2$Linux_X86_64 LibreOffice_project/420$Build-2</Application>
  <AppVersion>15.0000</AppVersion>
  <Words>789</Words>
  <Paragraphs>158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2022-10-11T12:24:09Z</dcterms:created>
  <dc:creator>Simon Prince</dc:creator>
  <dc:description/>
  <dc:language>pt-BR</dc:language>
  <cp:lastModifiedBy>RAC</cp:lastModifiedBy>
  <cp:lastPrinted>2023-10-12T08:57:47Z</cp:lastPrinted>
  <dcterms:modified xsi:type="dcterms:W3CDTF">2026-10-19T15:16:07Z</dcterms:modified>
  <cp:revision>9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Widescreen</vt:lpwstr>
  </property>
  <property fmtid="{D5CDD505-2E9C-101B-9397-08002B2CF9AE}" pid="4" name="Slides">
    <vt:i4>66</vt:i4>
  </property>
</Properties>
</file>